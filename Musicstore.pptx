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61" r:id="rId4"/>
    <p:sldId id="263" r:id="rId5"/>
    <p:sldId id="258" r:id="rId6"/>
    <p:sldId id="269" r:id="rId7"/>
    <p:sldId id="270" r:id="rId8"/>
    <p:sldId id="272" r:id="rId9"/>
    <p:sldId id="271" r:id="rId10"/>
    <p:sldId id="274" r:id="rId11"/>
    <p:sldId id="273" r:id="rId12"/>
    <p:sldId id="275" r:id="rId13"/>
    <p:sldId id="268" r:id="rId14"/>
    <p:sldId id="267" r:id="rId15"/>
    <p:sldId id="266" r:id="rId16"/>
    <p:sldId id="264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napalli Dileep" userId="291e4c9fe1e5d42c" providerId="LiveId" clId="{C45AB2C1-54F0-4B33-8834-C48442FEBA8D}"/>
    <pc:docChg chg="modSld">
      <pc:chgData name="Somanapalli Dileep" userId="291e4c9fe1e5d42c" providerId="LiveId" clId="{C45AB2C1-54F0-4B33-8834-C48442FEBA8D}" dt="2026-02-28T07:16:24.384" v="1" actId="1036"/>
      <pc:docMkLst>
        <pc:docMk/>
      </pc:docMkLst>
      <pc:sldChg chg="modSp mod">
        <pc:chgData name="Somanapalli Dileep" userId="291e4c9fe1e5d42c" providerId="LiveId" clId="{C45AB2C1-54F0-4B33-8834-C48442FEBA8D}" dt="2026-02-28T07:16:24.384" v="1" actId="1036"/>
        <pc:sldMkLst>
          <pc:docMk/>
          <pc:sldMk cId="0" sldId="256"/>
        </pc:sldMkLst>
        <pc:picChg chg="mod">
          <ac:chgData name="Somanapalli Dileep" userId="291e4c9fe1e5d42c" providerId="LiveId" clId="{C45AB2C1-54F0-4B33-8834-C48442FEBA8D}" dt="2026-02-28T07:16:24.384" v="1" actId="1036"/>
          <ac:picMkLst>
            <pc:docMk/>
            <pc:sldMk cId="0" sldId="256"/>
            <ac:picMk id="9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44A894-E494-54D8-53F7-81D907CD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A7A97B4-6B81-D54A-AB63-71C990A18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0264163-17F8-1154-E2C4-2590A51E6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62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D0C5ED2-40C9-0ADE-5DD3-F067C89B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4DDA84A-92E6-D6F3-2152-38D9F786B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C941F14-E1C5-48AD-6884-48D8DD019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5594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FBA615D-D94E-6055-D73C-D1628568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9061274-C90F-466C-8134-7DDA6D083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5ABBC7B-FC0F-29E0-46B8-751085CDA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6382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3065DC-0FF8-8D3F-E462-BA32EC9C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2F82256-A089-67C5-7EAE-99ABF0FBE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9927832-8850-7086-506E-EAF2D6CA8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3462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B9A34BF-5E57-C50F-80E7-C725888A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C1742CA-5A79-3466-CD67-18E4DBC84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3A9D635-1AD3-0D1B-01DC-471268E07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6046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C7AC28F-DB8C-0676-E396-53DC4C5E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9604EDA-A65B-C749-3B1C-7D0B93141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BA960A6-51B5-5949-22B7-74DB02A384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9374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A909D18-C421-B7B8-04C1-BE9DDCE08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E018EEE-63B6-9D9D-B268-F395C6ECD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4015C54-2269-9335-FBE0-2B62CDF72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6410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40003A8-5764-6DBB-7BF6-5A2F294F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E646042-36A2-D75C-CD13-3D2CCA879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58379BA-5758-9420-1CB0-23E201E55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6276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737B4F-8454-28AE-083C-9B8C5070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052498E-5986-6A3F-0E79-75C73B86E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3A57796-3BEE-83B9-40B7-8CA1D4F43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733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E0561B5-C8CA-1444-7882-86A7D84B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41DC156-3088-B388-CDAC-7C663032C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756D915-93E4-2823-A174-3E3B39BE4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4507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06AF35-E4E8-EBED-F71D-419D2D47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AD517E8-C61B-AA80-7088-053AF1E3D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527EF7C-0814-0E5B-D890-B90B9848A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8431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BB6EE6-147A-A3D8-0725-34C71EBD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C46122-E8D0-7957-0112-E102E3358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9F1C8E1-A4AB-FA24-3F64-D0E67E42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308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AC5EF1-BEBD-CB72-690B-8C6DDBB3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71A0396-34F3-7EC3-8C57-9EE7EE48B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399FCF6-3082-184F-061E-B5CD43AB6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9321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966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668825"/>
            <a:ext cx="7246189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Store Data Analysis</a:t>
            </a:r>
          </a:p>
          <a:p>
            <a:pPr>
              <a:buSzPts val="1800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buSzPts val="1800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Dileep Somanapalli</a:t>
            </a:r>
          </a:p>
          <a:p>
            <a:pPr>
              <a:buSzPts val="18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Batch No: ISP2501</a:t>
            </a:r>
          </a:p>
          <a:p>
            <a:pPr>
              <a:buSzPts val="18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Domain : SQL		</a:t>
            </a:r>
          </a:p>
          <a:p>
            <a:pPr algn="ctr">
              <a:buSzPts val="1800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908756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My name is Dileep Somanapalli. Currently I am pursuing my BTech in TKR College of Engineering and Technology with specialization in Data Science.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Science: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Because I have strong  interest in Data-driven Decision making and passion to extract insights from real world  data. I want to build my career in Analytics and data science where data can be used to solve business problems effectively.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 experience: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Intern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Cognifyz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in EDA, data preprocessing, and visualization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Profiles: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LinkedIn: https://www.linkedin.com/in/dileep-somanapalli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 Hub: https://github.com/dileep272004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06312" y="416554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lang="en-IN" sz="28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CD98AF-E73B-2BE8-34AE-D88F0325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F3FFE20-705A-48C7-4743-1822673D7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764850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Objective of the Project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Analyze customer purchasing behavior.</a:t>
            </a:r>
          </a:p>
          <a:p>
            <a:r>
              <a:rPr lang="en-US" sz="2400" dirty="0"/>
              <a:t>Identify top revenue generating customers and locations.</a:t>
            </a:r>
          </a:p>
          <a:p>
            <a:r>
              <a:rPr lang="en-US" sz="2400" dirty="0"/>
              <a:t>Discover most popular music genres across countries.</a:t>
            </a:r>
          </a:p>
          <a:p>
            <a:r>
              <a:rPr lang="en-US" sz="2400" dirty="0"/>
              <a:t>Understand sales and music trends.</a:t>
            </a:r>
          </a:p>
          <a:p>
            <a:r>
              <a:rPr lang="en-US" sz="2400" dirty="0"/>
              <a:t>Support business decision-making using data analysis.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1287584-75C8-B74C-60F2-C3DAFD21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8DEDF7F-65D6-748F-0770-5E0A3F023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98323"/>
            <a:ext cx="5188197" cy="6607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indent="0">
              <a:buSzPts val="2400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</a:p>
          <a:p>
            <a:pPr marL="25400" indent="0"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(ER) Diagram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50" indent="-285750">
              <a:buSzPts val="24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represents the structure of the Music Store database.</a:t>
            </a:r>
          </a:p>
          <a:p>
            <a:pPr marL="311150" indent="-285750">
              <a:buSzPts val="24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different entities are connected using relationships.</a:t>
            </a:r>
          </a:p>
          <a:p>
            <a:pPr marL="311150" indent="-285750">
              <a:buSzPts val="24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table represents a real-world entity such as customers, invoices, tracks, artists, and playlists in the music store system</a:t>
            </a:r>
            <a:r>
              <a:rPr lang="en-US" sz="1800" dirty="0"/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lvl="0" indent="0"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Overview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Music Store database follows a Relational Database Model where multiple tables are connected using Primary Keys and Foreign Keys.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information related to customers, employees, music tracks, artists, albums, invoices, and playlists.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63C9DA-1D97-400F-B089-FB21878BC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568" y="98324"/>
            <a:ext cx="6361472" cy="60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3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535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688258"/>
            <a:ext cx="10515600" cy="558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Entities in Music Store Database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customer details.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purchase transactions.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purchased tracks information.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song details.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Album &amp; Artist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Represent music creators.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&amp; MediaType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Classify music categories.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&amp; Playlist Track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Manage music collections.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customer support.</a:t>
            </a:r>
          </a:p>
          <a:p>
            <a:pPr marL="25400" lvl="0" indent="0">
              <a:buSzPts val="24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can generate multiple Invoices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Invoice contains multiple purchased Tracks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belong to specific Albums and Artists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track is categorized under a Genre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Playlists contain multiple tracks through Playlist Track table</a:t>
            </a:r>
          </a:p>
          <a:p>
            <a:pPr marL="11430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D4EC658-2A24-955D-BE85-C01CCF0A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A3C8E-669F-975B-9F7C-7C229B9A76BA}"/>
              </a:ext>
            </a:extLst>
          </p:cNvPr>
          <p:cNvSpPr txBox="1"/>
          <p:nvPr/>
        </p:nvSpPr>
        <p:spPr>
          <a:xfrm>
            <a:off x="829433" y="1051965"/>
            <a:ext cx="83347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lvl="0">
              <a:lnSpc>
                <a:spcPct val="90000"/>
              </a:lnSpc>
              <a:spcBef>
                <a:spcPts val="1000"/>
              </a:spcBef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650B4-1E69-DCBA-45D7-20C592B1F36D}"/>
              </a:ext>
            </a:extLst>
          </p:cNvPr>
          <p:cNvSpPr txBox="1"/>
          <p:nvPr/>
        </p:nvSpPr>
        <p:spPr>
          <a:xfrm>
            <a:off x="829433" y="1812615"/>
            <a:ext cx="9148047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the senior most employee based on job title?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generate the highest number of invoices?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3 highest invoice values?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city generates the highest revenue?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the best customer based on total spending?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Rock music listeners?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artists have produced the most Rock music tracks?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tracks are longer than the average song length?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amount is spent by each customer on artists?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most popular music genre in each country?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spends the most on music in each country?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02D917D-D5B3-57A0-AA18-0522B067A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6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EC6D4E-6009-1A5B-741D-EC6E39FB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1D6FA9-F254-E1B7-C9D3-7929AD4545F9}"/>
              </a:ext>
            </a:extLst>
          </p:cNvPr>
          <p:cNvSpPr txBox="1"/>
          <p:nvPr/>
        </p:nvSpPr>
        <p:spPr>
          <a:xfrm>
            <a:off x="648884" y="873939"/>
            <a:ext cx="62336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the senior most employee based on job title?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 Adams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senior-most employee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holding the position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represents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level of management and decision-making authority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hierarchy and leadership structure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music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generate the highest number of invoices?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 generates the highest number of invoices (131)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largest customer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and Brazil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show strong purchasing participation.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invoice count suggests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market demand and customer engagement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these regions.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B0CF2-2D34-0525-A466-E900EEFB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954" y="1626846"/>
            <a:ext cx="4008467" cy="556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84AB7F-6DCD-3263-D3C5-B3D06EA0C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35" y="3489834"/>
            <a:ext cx="2080440" cy="23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4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52C1D4-A01F-1F52-CD27-A5A38A42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2A8A81-17C5-0230-B14B-91EB088430E9}"/>
              </a:ext>
            </a:extLst>
          </p:cNvPr>
          <p:cNvSpPr txBox="1"/>
          <p:nvPr/>
        </p:nvSpPr>
        <p:spPr>
          <a:xfrm>
            <a:off x="648884" y="873939"/>
            <a:ext cx="623369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3 highest invoice values?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invoice value is 23.76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generated from a customer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highest purchases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19.80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recorded from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spending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invoices indicate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or bulk music purchases by customers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city generates the highest revenue?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Prague generates the highest total revenue (273.24)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in Prague contribute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sales for the music store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Prague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location to conduct promotional events or music festivals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business revenue.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2543C-DDCE-419B-AF0E-C937D3B86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74" y="1612191"/>
            <a:ext cx="5211142" cy="1234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0FC34F-45C2-C6B0-4DA3-9491606E4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376" y="4544708"/>
            <a:ext cx="1775614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6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A75A3FF-F5FB-5726-2094-768EECA4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4B9419-2F20-9E18-0442-11C49442778A}"/>
              </a:ext>
            </a:extLst>
          </p:cNvPr>
          <p:cNvSpPr txBox="1"/>
          <p:nvPr/>
        </p:nvSpPr>
        <p:spPr>
          <a:xfrm>
            <a:off x="648884" y="873939"/>
            <a:ext cx="623369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the best customer based on total spending?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František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Wichterlová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as the best customer of the music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has spent a total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144.54,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highest among all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 like this contribute significantly to overall business revenue and should be targeted for loyalty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Rock music listeners?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from multiple countries actively listen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music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its global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customers appear multiple times because they purchased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Rock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music is one of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preferred genres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music store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7684A0-5F56-7DF6-257C-50F6D440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53" y="1840331"/>
            <a:ext cx="3330229" cy="50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59090-88A5-7EB2-76C0-5457D6726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253" y="4190055"/>
            <a:ext cx="3444538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5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3CFAB1-A4C4-5B71-3C9B-912FB8FE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EB81C6-E603-87D7-8400-E1762D85F13C}"/>
              </a:ext>
            </a:extLst>
          </p:cNvPr>
          <p:cNvSpPr txBox="1"/>
          <p:nvPr/>
        </p:nvSpPr>
        <p:spPr>
          <a:xfrm>
            <a:off x="648884" y="873939"/>
            <a:ext cx="6233697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artists have produced the most Rock music tracks?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AC/DC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produced the highest number of Rock tracks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Aerosmith, Led Zeppelin, and Audioslave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also major contributors to Rock music.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artists represent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influential Rock performers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ideal candidates for promotions or music events.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tracks are longer than the average song length?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tracks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Many More Times”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“Advance Romance”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durations significantly higher than the average song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longer tracks indicate the presence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or live musical compositions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music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Long-duration songs may appeal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music listeners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suitable for premium playlists or special collections.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2E74F-03AC-C188-16DA-83D1DC3E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668" y="1021423"/>
            <a:ext cx="2819644" cy="1676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A87DEB-4E4A-0E7B-70E8-1091E31CA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494" y="3325417"/>
            <a:ext cx="3086367" cy="28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5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0E29688-45C0-0488-077A-57766D94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F0ECE1-EE5B-0F54-898C-7904E271D053}"/>
              </a:ext>
            </a:extLst>
          </p:cNvPr>
          <p:cNvSpPr txBox="1"/>
          <p:nvPr/>
        </p:nvSpPr>
        <p:spPr>
          <a:xfrm>
            <a:off x="648884" y="873939"/>
            <a:ext cx="62336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amount is spent by each customer on artists?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show higher spending on popular artists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AC/DC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Aerosmith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Alanis Morissette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customers repeatedly purchase tracks from the same artist, indicating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 loyalty and preference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customer–artist spending patterns helps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and targeted promotions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most popular music genre in each country?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music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genre across almost all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dominance of Rock music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can prioritize Rock playlists, promotions, and artist collaborations internationally.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D2C34-AD95-2AB1-822F-686056DFB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659" y="1091380"/>
            <a:ext cx="3596952" cy="2040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C9689D-E229-2BA9-9D48-A9313ED7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977" y="3726081"/>
            <a:ext cx="1653683" cy="23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7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551310F-2CC4-7209-6CF7-C2D65DFE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A9F8D8-C04D-B5FC-02F5-17951DE7C648}"/>
              </a:ext>
            </a:extLst>
          </p:cNvPr>
          <p:cNvSpPr txBox="1"/>
          <p:nvPr/>
        </p:nvSpPr>
        <p:spPr>
          <a:xfrm>
            <a:off x="648884" y="873939"/>
            <a:ext cx="6233697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spends the most on music in each country?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country has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top-spending customer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localized purchasing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from countries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Czech Republic, Brazil, and India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comparatively higher music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these premium customers helps the business design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 and personalized offers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4202C-6455-3395-17CB-75C51A038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213" y="1352796"/>
            <a:ext cx="3063505" cy="297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3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2C66805-37C0-B673-1117-1330AA23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8B755-2D20-020A-F0B9-B9A68D8D6247}"/>
              </a:ext>
            </a:extLst>
          </p:cNvPr>
          <p:cNvSpPr txBox="1"/>
          <p:nvPr/>
        </p:nvSpPr>
        <p:spPr>
          <a:xfrm>
            <a:off x="628649" y="1260813"/>
            <a:ext cx="8915401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music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genre across multiple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 contributes major revenue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cities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Prague generate the highest sales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ideal for promotional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artists and long-duration tracks show strong customer engagement patterns.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festivals and promotions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high-revenue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offers and loyalty rewards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top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genre playlists and artists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campaigns on countries with higher invoice activity.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2C780-033F-648C-22AA-DFE55A154776}"/>
              </a:ext>
            </a:extLst>
          </p:cNvPr>
          <p:cNvSpPr txBox="1"/>
          <p:nvPr/>
        </p:nvSpPr>
        <p:spPr>
          <a:xfrm>
            <a:off x="628648" y="609359"/>
            <a:ext cx="6096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74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E76DFE-0616-C4AB-E74E-A1C86A96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D8E4E-55F7-25DA-13E2-AB254BF0D6A7}"/>
              </a:ext>
            </a:extLst>
          </p:cNvPr>
          <p:cNvSpPr txBox="1"/>
          <p:nvPr/>
        </p:nvSpPr>
        <p:spPr>
          <a:xfrm>
            <a:off x="590549" y="1975188"/>
            <a:ext cx="1063942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Music Store data analysis helped identify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patterns and revenue trends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revealed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customers, high-performing cities, and popular music genres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contributing to business growth.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music dominates customer preferences across most countries.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SQL-based analysis enables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marketing and sales strategies.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structured databases can transform raw data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business 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66F96-971F-D0E6-6533-80DEA542AEE2}"/>
              </a:ext>
            </a:extLst>
          </p:cNvPr>
          <p:cNvSpPr txBox="1"/>
          <p:nvPr/>
        </p:nvSpPr>
        <p:spPr>
          <a:xfrm>
            <a:off x="590549" y="1076084"/>
            <a:ext cx="6096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83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BBEE48-781C-A661-3677-85BBB162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F538F-C384-087B-A575-6A2E181D4994}"/>
              </a:ext>
            </a:extLst>
          </p:cNvPr>
          <p:cNvSpPr txBox="1"/>
          <p:nvPr/>
        </p:nvSpPr>
        <p:spPr>
          <a:xfrm>
            <a:off x="542924" y="1444942"/>
            <a:ext cx="108299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advanced SQL querying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skills in joins, subqueries, and window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real-world datasets to extract meaningful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analytical thinking and problem-solving abilities.</a:t>
            </a:r>
          </a:p>
          <a:p>
            <a:pPr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complex multi-table relationships and joins.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Debugging complex queries and window functions.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datasets  during analysis and summarizing results.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accurate aggregations and interpretations.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BB15B-4638-6D56-0CFF-B5BB6562D6C4}"/>
              </a:ext>
            </a:extLst>
          </p:cNvPr>
          <p:cNvSpPr txBox="1"/>
          <p:nvPr/>
        </p:nvSpPr>
        <p:spPr>
          <a:xfrm>
            <a:off x="542924" y="642521"/>
            <a:ext cx="857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Challenges – SQL Data Analysis Project</a:t>
            </a:r>
          </a:p>
        </p:txBody>
      </p:sp>
    </p:spTree>
    <p:extLst>
      <p:ext uri="{BB962C8B-B14F-4D97-AF65-F5344CB8AC3E}">
        <p14:creationId xmlns:p14="http://schemas.microsoft.com/office/powerpoint/2010/main" val="166983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EF0DE3-7B8A-186F-00E7-2A7314D2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B2773-FD10-E00C-2429-07DFC4E4903D}"/>
              </a:ext>
            </a:extLst>
          </p:cNvPr>
          <p:cNvSpPr txBox="1"/>
          <p:nvPr/>
        </p:nvSpPr>
        <p:spPr>
          <a:xfrm>
            <a:off x="2800350" y="19416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FA232-2414-DE93-6730-54D6AE67D6CF}"/>
              </a:ext>
            </a:extLst>
          </p:cNvPr>
          <p:cNvSpPr txBox="1"/>
          <p:nvPr/>
        </p:nvSpPr>
        <p:spPr>
          <a:xfrm>
            <a:off x="2800350" y="279886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Welcome!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30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1387</Words>
  <Application>Microsoft Office PowerPoint</Application>
  <PresentationFormat>Widescreen</PresentationFormat>
  <Paragraphs>173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Lato Black</vt:lpstr>
      <vt:lpstr>Calibri</vt:lpstr>
      <vt:lpstr>Times New Roman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ER Diagram and Schema Explanation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Somanapalli Dileep</cp:lastModifiedBy>
  <cp:revision>1</cp:revision>
  <dcterms:created xsi:type="dcterms:W3CDTF">2021-02-16T05:19:01Z</dcterms:created>
  <dcterms:modified xsi:type="dcterms:W3CDTF">2026-02-28T07:16:34Z</dcterms:modified>
</cp:coreProperties>
</file>